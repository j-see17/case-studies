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sangha SemiCondensed Bold" charset="1" panose="00000000000000000000"/>
      <p:regular r:id="rId10"/>
    </p:embeddedFont>
    <p:embeddedFont>
      <p:font typeface="Asangha SemiCondensed Medium" charset="1" panose="00000000000000000000"/>
      <p:regular r:id="rId11"/>
    </p:embeddedFont>
    <p:embeddedFont>
      <p:font typeface="Asangha SemiCondense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64585" y="0"/>
            <a:ext cx="11385868" cy="10287000"/>
            <a:chOff x="0" y="0"/>
            <a:chExt cx="1830907" cy="1654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907" cy="1654203"/>
            </a:xfrm>
            <a:custGeom>
              <a:avLst/>
              <a:gdLst/>
              <a:ahLst/>
              <a:cxnLst/>
              <a:rect r="r" b="b" t="t" l="l"/>
              <a:pathLst>
                <a:path h="1654203" w="1830907">
                  <a:moveTo>
                    <a:pt x="1830907" y="827102"/>
                  </a:moveTo>
                  <a:lnTo>
                    <a:pt x="1627707" y="1654203"/>
                  </a:lnTo>
                  <a:lnTo>
                    <a:pt x="203200" y="1654203"/>
                  </a:lnTo>
                  <a:lnTo>
                    <a:pt x="0" y="827102"/>
                  </a:lnTo>
                  <a:lnTo>
                    <a:pt x="203200" y="0"/>
                  </a:lnTo>
                  <a:lnTo>
                    <a:pt x="1627707" y="0"/>
                  </a:lnTo>
                  <a:lnTo>
                    <a:pt x="1830907" y="827102"/>
                  </a:lnTo>
                  <a:close/>
                </a:path>
              </a:pathLst>
            </a:custGeom>
            <a:blipFill>
              <a:blip r:embed="rId2"/>
              <a:stretch>
                <a:fillRect l="0" t="-24265" r="0" b="-2426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24417" y="0"/>
            <a:ext cx="5449616" cy="10367460"/>
            <a:chOff x="0" y="0"/>
            <a:chExt cx="868255" cy="16517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8255" cy="1651785"/>
            </a:xfrm>
            <a:custGeom>
              <a:avLst/>
              <a:gdLst/>
              <a:ahLst/>
              <a:cxnLst/>
              <a:rect r="r" b="b" t="t" l="l"/>
              <a:pathLst>
                <a:path h="1651785" w="868255">
                  <a:moveTo>
                    <a:pt x="868255" y="825893"/>
                  </a:moveTo>
                  <a:lnTo>
                    <a:pt x="665055" y="1651785"/>
                  </a:lnTo>
                  <a:lnTo>
                    <a:pt x="203200" y="1651785"/>
                  </a:lnTo>
                  <a:lnTo>
                    <a:pt x="0" y="825893"/>
                  </a:lnTo>
                  <a:lnTo>
                    <a:pt x="203200" y="0"/>
                  </a:lnTo>
                  <a:lnTo>
                    <a:pt x="665055" y="0"/>
                  </a:lnTo>
                  <a:lnTo>
                    <a:pt x="868255" y="825893"/>
                  </a:lnTo>
                  <a:close/>
                </a:path>
              </a:pathLst>
            </a:custGeom>
            <a:gradFill rotWithShape="true">
              <a:gsLst>
                <a:gs pos="0">
                  <a:srgbClr val="232323">
                    <a:alpha val="100000"/>
                  </a:srgbClr>
                </a:gs>
                <a:gs pos="100000">
                  <a:srgbClr val="23232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14300" y="-38100"/>
              <a:ext cx="639655" cy="16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05492" y="2348599"/>
            <a:ext cx="7427946" cy="132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2"/>
              </a:lnSpc>
            </a:pPr>
            <a:r>
              <a:rPr lang="en-US" b="true" sz="10002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PROPOSAL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054" y="3464466"/>
            <a:ext cx="7427946" cy="154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44"/>
              </a:lnSpc>
              <a:spcBef>
                <a:spcPct val="0"/>
              </a:spcBef>
            </a:pPr>
            <a:r>
              <a:rPr lang="en-US" b="true" sz="9103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VERIZON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8124417" y="-164960"/>
            <a:ext cx="2531753" cy="13032257"/>
            <a:chOff x="0" y="0"/>
            <a:chExt cx="406400" cy="20919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737" y="0"/>
              <a:ext cx="389777" cy="2091954"/>
            </a:xfrm>
            <a:custGeom>
              <a:avLst/>
              <a:gdLst/>
              <a:ahLst/>
              <a:cxnLst/>
              <a:rect r="r" b="b" t="t" l="l"/>
              <a:pathLst>
                <a:path h="2091954" w="389777">
                  <a:moveTo>
                    <a:pt x="50422" y="0"/>
                  </a:moveTo>
                  <a:lnTo>
                    <a:pt x="131304" y="0"/>
                  </a:lnTo>
                  <a:cubicBezTo>
                    <a:pt x="166820" y="0"/>
                    <a:pt x="197353" y="25172"/>
                    <a:pt x="204126" y="60036"/>
                  </a:cubicBezTo>
                  <a:lnTo>
                    <a:pt x="384000" y="985941"/>
                  </a:lnTo>
                  <a:cubicBezTo>
                    <a:pt x="391703" y="1025594"/>
                    <a:pt x="391703" y="1066360"/>
                    <a:pt x="384000" y="1106013"/>
                  </a:cubicBezTo>
                  <a:lnTo>
                    <a:pt x="204126" y="2031917"/>
                  </a:lnTo>
                  <a:cubicBezTo>
                    <a:pt x="197353" y="2066781"/>
                    <a:pt x="166820" y="2091954"/>
                    <a:pt x="131304" y="2091954"/>
                  </a:cubicBezTo>
                  <a:lnTo>
                    <a:pt x="50422" y="2091954"/>
                  </a:lnTo>
                  <a:cubicBezTo>
                    <a:pt x="35365" y="2091954"/>
                    <a:pt x="21095" y="2085224"/>
                    <a:pt x="11517" y="2073606"/>
                  </a:cubicBezTo>
                  <a:cubicBezTo>
                    <a:pt x="1939" y="2061988"/>
                    <a:pt x="-1945" y="2046698"/>
                    <a:pt x="926" y="2031917"/>
                  </a:cubicBezTo>
                  <a:lnTo>
                    <a:pt x="180800" y="1106013"/>
                  </a:lnTo>
                  <a:cubicBezTo>
                    <a:pt x="188503" y="1066360"/>
                    <a:pt x="188503" y="1025594"/>
                    <a:pt x="180800" y="985941"/>
                  </a:cubicBezTo>
                  <a:lnTo>
                    <a:pt x="926" y="60036"/>
                  </a:lnTo>
                  <a:cubicBezTo>
                    <a:pt x="-1945" y="45255"/>
                    <a:pt x="1939" y="29965"/>
                    <a:pt x="11517" y="18347"/>
                  </a:cubicBezTo>
                  <a:cubicBezTo>
                    <a:pt x="21095" y="6729"/>
                    <a:pt x="35365" y="0"/>
                    <a:pt x="504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4E3D">
                    <a:alpha val="100000"/>
                  </a:srgbClr>
                </a:gs>
                <a:gs pos="50000">
                  <a:srgbClr val="F94E3D">
                    <a:alpha val="100000"/>
                  </a:srgbClr>
                </a:gs>
                <a:gs pos="100000">
                  <a:srgbClr val="23232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213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383318" y="664098"/>
            <a:ext cx="4264596" cy="1153367"/>
            <a:chOff x="0" y="0"/>
            <a:chExt cx="3857865" cy="1043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89" y="0"/>
              <a:ext cx="3845088" cy="1043366"/>
            </a:xfrm>
            <a:custGeom>
              <a:avLst/>
              <a:gdLst/>
              <a:ahLst/>
              <a:cxnLst/>
              <a:rect r="r" b="b" t="t" l="l"/>
              <a:pathLst>
                <a:path h="1043366" w="3845088">
                  <a:moveTo>
                    <a:pt x="233119" y="0"/>
                  </a:moveTo>
                  <a:lnTo>
                    <a:pt x="3815168" y="0"/>
                  </a:lnTo>
                  <a:cubicBezTo>
                    <a:pt x="3824105" y="0"/>
                    <a:pt x="3832574" y="3995"/>
                    <a:pt x="3838258" y="10892"/>
                  </a:cubicBezTo>
                  <a:cubicBezTo>
                    <a:pt x="3843941" y="17789"/>
                    <a:pt x="3846244" y="26866"/>
                    <a:pt x="3844535" y="35638"/>
                  </a:cubicBezTo>
                  <a:lnTo>
                    <a:pt x="3655217" y="1007728"/>
                  </a:lnTo>
                  <a:cubicBezTo>
                    <a:pt x="3651185" y="1028426"/>
                    <a:pt x="3633055" y="1043366"/>
                    <a:pt x="3611968" y="1043366"/>
                  </a:cubicBezTo>
                  <a:lnTo>
                    <a:pt x="29919" y="1043366"/>
                  </a:lnTo>
                  <a:cubicBezTo>
                    <a:pt x="20982" y="1043366"/>
                    <a:pt x="12513" y="1039371"/>
                    <a:pt x="6829" y="1032474"/>
                  </a:cubicBezTo>
                  <a:cubicBezTo>
                    <a:pt x="1146" y="1025576"/>
                    <a:pt x="-1157" y="1016500"/>
                    <a:pt x="552" y="1007728"/>
                  </a:cubicBezTo>
                  <a:lnTo>
                    <a:pt x="189870" y="35638"/>
                  </a:lnTo>
                  <a:cubicBezTo>
                    <a:pt x="193901" y="14940"/>
                    <a:pt x="212032" y="0"/>
                    <a:pt x="2331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4E3D">
                    <a:alpha val="100000"/>
                  </a:srgbClr>
                </a:gs>
                <a:gs pos="100000">
                  <a:srgbClr val="232323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3654665" cy="1081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57295" y="5385899"/>
            <a:ext cx="1675598" cy="0"/>
          </a:xfrm>
          <a:prstGeom prst="line">
            <a:avLst/>
          </a:prstGeom>
          <a:ln cap="rnd" w="76200">
            <a:gradFill>
              <a:gsLst>
                <a:gs pos="0">
                  <a:srgbClr val="F94E3D">
                    <a:alpha val="100000"/>
                  </a:srgbClr>
                </a:gs>
                <a:gs pos="100000">
                  <a:srgbClr val="23232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518640" y="7686245"/>
            <a:ext cx="1014797" cy="2600755"/>
            <a:chOff x="0" y="0"/>
            <a:chExt cx="406400" cy="10415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3445" y="0"/>
              <a:ext cx="379510" cy="1041535"/>
            </a:xfrm>
            <a:custGeom>
              <a:avLst/>
              <a:gdLst/>
              <a:ahLst/>
              <a:cxnLst/>
              <a:rect r="r" b="b" t="t" l="l"/>
              <a:pathLst>
                <a:path h="1041535" w="379510">
                  <a:moveTo>
                    <a:pt x="113465" y="0"/>
                  </a:moveTo>
                  <a:lnTo>
                    <a:pt x="62845" y="0"/>
                  </a:lnTo>
                  <a:cubicBezTo>
                    <a:pt x="44069" y="0"/>
                    <a:pt x="26277" y="8395"/>
                    <a:pt x="14339" y="22887"/>
                  </a:cubicBezTo>
                  <a:cubicBezTo>
                    <a:pt x="2401" y="37379"/>
                    <a:pt x="-2432" y="56450"/>
                    <a:pt x="1164" y="74879"/>
                  </a:cubicBezTo>
                  <a:lnTo>
                    <a:pt x="175146" y="966656"/>
                  </a:lnTo>
                  <a:cubicBezTo>
                    <a:pt x="183631" y="1010147"/>
                    <a:pt x="221734" y="1041535"/>
                    <a:pt x="266045" y="1041535"/>
                  </a:cubicBezTo>
                  <a:lnTo>
                    <a:pt x="316665" y="1041535"/>
                  </a:lnTo>
                  <a:cubicBezTo>
                    <a:pt x="335441" y="1041535"/>
                    <a:pt x="353233" y="1033140"/>
                    <a:pt x="365171" y="1018648"/>
                  </a:cubicBezTo>
                  <a:cubicBezTo>
                    <a:pt x="377109" y="1004155"/>
                    <a:pt x="381942" y="985085"/>
                    <a:pt x="378346" y="966656"/>
                  </a:cubicBezTo>
                  <a:lnTo>
                    <a:pt x="204364" y="74879"/>
                  </a:lnTo>
                  <a:cubicBezTo>
                    <a:pt x="195879" y="31387"/>
                    <a:pt x="157776" y="0"/>
                    <a:pt x="113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4E3D">
                    <a:alpha val="100000"/>
                  </a:srgbClr>
                </a:gs>
                <a:gs pos="50000">
                  <a:srgbClr val="F94E3D">
                    <a:alpha val="100000"/>
                  </a:srgbClr>
                </a:gs>
                <a:gs pos="100000">
                  <a:srgbClr val="23232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203200" cy="1079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9427" y="8681388"/>
            <a:ext cx="1417502" cy="610469"/>
          </a:xfrm>
          <a:custGeom>
            <a:avLst/>
            <a:gdLst/>
            <a:ahLst/>
            <a:cxnLst/>
            <a:rect r="r" b="b" t="t" l="l"/>
            <a:pathLst>
              <a:path h="610469" w="1417502">
                <a:moveTo>
                  <a:pt x="0" y="0"/>
                </a:moveTo>
                <a:lnTo>
                  <a:pt x="1417501" y="0"/>
                </a:lnTo>
                <a:lnTo>
                  <a:pt x="1417501" y="610469"/>
                </a:lnTo>
                <a:lnTo>
                  <a:pt x="0" y="61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880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8442" y="5681174"/>
            <a:ext cx="8076142" cy="2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</a:pPr>
            <a:r>
              <a:rPr lang="en-US" sz="3579" b="tru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Ethics and Marketing Review </a:t>
            </a:r>
          </a:p>
          <a:p>
            <a:pPr algn="ctr">
              <a:lnSpc>
                <a:spcPts val="5011"/>
              </a:lnSpc>
            </a:pPr>
          </a:p>
          <a:p>
            <a:pPr algn="l">
              <a:lnSpc>
                <a:spcPts val="5011"/>
              </a:lnSpc>
            </a:pPr>
          </a:p>
          <a:p>
            <a:pPr algn="l" marL="0" indent="0" lvl="0">
              <a:lnSpc>
                <a:spcPts val="4451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57295" y="971541"/>
            <a:ext cx="295926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Asangha SemiCondensed Medium"/>
                <a:ea typeface="Asangha SemiCondensed Medium"/>
                <a:cs typeface="Asangha SemiCondensed Medium"/>
                <a:sym typeface="Asangha SemiCondensed Medium"/>
              </a:rPr>
              <a:t>October 5,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500" y="6447538"/>
            <a:ext cx="7260729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“We power</a:t>
            </a:r>
            <a:r>
              <a:rPr lang="en-US" sz="2800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 and empower how people live, work and play”</a:t>
            </a:r>
          </a:p>
          <a:p>
            <a:pPr algn="ctr">
              <a:lnSpc>
                <a:spcPts val="57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4689" y="9148149"/>
            <a:ext cx="7916540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BUMK760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T</a:t>
            </a:r>
            <a:r>
              <a:rPr lang="en-US" sz="2700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eam 4: Heven Abraha, Nia Bishop, Rutendo Nyoka and Julia See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1798" y="8647831"/>
            <a:ext cx="1417502" cy="610469"/>
          </a:xfrm>
          <a:custGeom>
            <a:avLst/>
            <a:gdLst/>
            <a:ahLst/>
            <a:cxnLst/>
            <a:rect r="r" b="b" t="t" l="l"/>
            <a:pathLst>
              <a:path h="610469" w="1417502">
                <a:moveTo>
                  <a:pt x="0" y="0"/>
                </a:moveTo>
                <a:lnTo>
                  <a:pt x="1417502" y="0"/>
                </a:lnTo>
                <a:lnTo>
                  <a:pt x="1417502" y="610469"/>
                </a:lnTo>
                <a:lnTo>
                  <a:pt x="0" y="61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88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8333" y="2648310"/>
            <a:ext cx="7355130" cy="2750821"/>
            <a:chOff x="0" y="0"/>
            <a:chExt cx="1937154" cy="7244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7153" cy="724496"/>
            </a:xfrm>
            <a:custGeom>
              <a:avLst/>
              <a:gdLst/>
              <a:ahLst/>
              <a:cxnLst/>
              <a:rect r="r" b="b" t="t" l="l"/>
              <a:pathLst>
                <a:path h="724496" w="1937153">
                  <a:moveTo>
                    <a:pt x="0" y="0"/>
                  </a:moveTo>
                  <a:lnTo>
                    <a:pt x="1937153" y="0"/>
                  </a:lnTo>
                  <a:lnTo>
                    <a:pt x="1937153" y="724496"/>
                  </a:lnTo>
                  <a:lnTo>
                    <a:pt x="0" y="724496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37154" cy="76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8333" y="5740721"/>
            <a:ext cx="7355130" cy="2887977"/>
            <a:chOff x="0" y="0"/>
            <a:chExt cx="1937154" cy="7606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153" cy="760619"/>
            </a:xfrm>
            <a:custGeom>
              <a:avLst/>
              <a:gdLst/>
              <a:ahLst/>
              <a:cxnLst/>
              <a:rect r="r" b="b" t="t" l="l"/>
              <a:pathLst>
                <a:path h="760619" w="1937153">
                  <a:moveTo>
                    <a:pt x="0" y="0"/>
                  </a:moveTo>
                  <a:lnTo>
                    <a:pt x="1937153" y="0"/>
                  </a:lnTo>
                  <a:lnTo>
                    <a:pt x="1937153" y="760619"/>
                  </a:lnTo>
                  <a:lnTo>
                    <a:pt x="0" y="760619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7154" cy="798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03633" y="3906361"/>
            <a:ext cx="8505165" cy="2873534"/>
            <a:chOff x="0" y="0"/>
            <a:chExt cx="2240043" cy="7568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0044" cy="756816"/>
            </a:xfrm>
            <a:custGeom>
              <a:avLst/>
              <a:gdLst/>
              <a:ahLst/>
              <a:cxnLst/>
              <a:rect r="r" b="b" t="t" l="l"/>
              <a:pathLst>
                <a:path h="756816" w="2240044">
                  <a:moveTo>
                    <a:pt x="0" y="0"/>
                  </a:moveTo>
                  <a:lnTo>
                    <a:pt x="2240044" y="0"/>
                  </a:lnTo>
                  <a:lnTo>
                    <a:pt x="2240044" y="756816"/>
                  </a:lnTo>
                  <a:lnTo>
                    <a:pt x="0" y="756816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40043" cy="79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4664" y="2648310"/>
            <a:ext cx="920637" cy="823392"/>
            <a:chOff x="0" y="0"/>
            <a:chExt cx="1192051" cy="1066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2051" cy="1066136"/>
            </a:xfrm>
            <a:custGeom>
              <a:avLst/>
              <a:gdLst/>
              <a:ahLst/>
              <a:cxnLst/>
              <a:rect r="r" b="b" t="t" l="l"/>
              <a:pathLst>
                <a:path h="1066136" w="1192051">
                  <a:moveTo>
                    <a:pt x="988851" y="0"/>
                  </a:moveTo>
                  <a:lnTo>
                    <a:pt x="0" y="0"/>
                  </a:lnTo>
                  <a:lnTo>
                    <a:pt x="0" y="1066136"/>
                  </a:lnTo>
                  <a:lnTo>
                    <a:pt x="988851" y="1066136"/>
                  </a:lnTo>
                  <a:lnTo>
                    <a:pt x="1192051" y="533068"/>
                  </a:lnTo>
                  <a:lnTo>
                    <a:pt x="988851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7751" cy="1104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232323"/>
                  </a:solidFill>
                  <a:latin typeface="Asangha SemiCondensed"/>
                  <a:ea typeface="Asangha SemiCondensed"/>
                  <a:cs typeface="Asangha SemiCondensed"/>
                  <a:sym typeface="Asangha SemiCondensed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0864" y="5712146"/>
            <a:ext cx="920637" cy="823392"/>
            <a:chOff x="0" y="0"/>
            <a:chExt cx="1192051" cy="1066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2051" cy="1066136"/>
            </a:xfrm>
            <a:custGeom>
              <a:avLst/>
              <a:gdLst/>
              <a:ahLst/>
              <a:cxnLst/>
              <a:rect r="r" b="b" t="t" l="l"/>
              <a:pathLst>
                <a:path h="1066136" w="1192051">
                  <a:moveTo>
                    <a:pt x="988851" y="0"/>
                  </a:moveTo>
                  <a:lnTo>
                    <a:pt x="0" y="0"/>
                  </a:lnTo>
                  <a:lnTo>
                    <a:pt x="0" y="1066136"/>
                  </a:lnTo>
                  <a:lnTo>
                    <a:pt x="988851" y="1066136"/>
                  </a:lnTo>
                  <a:lnTo>
                    <a:pt x="1192051" y="533068"/>
                  </a:lnTo>
                  <a:lnTo>
                    <a:pt x="988851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77751" cy="1104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232323"/>
                  </a:solidFill>
                  <a:latin typeface="Asangha SemiCondensed"/>
                  <a:ea typeface="Asangha SemiCondensed"/>
                  <a:cs typeface="Asangha SemiCondensed"/>
                  <a:sym typeface="Asangha SemiCondensed"/>
                </a:rPr>
                <a:t>15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76639" y="3753961"/>
            <a:ext cx="920637" cy="823392"/>
            <a:chOff x="0" y="0"/>
            <a:chExt cx="1192051" cy="1066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2051" cy="1066136"/>
            </a:xfrm>
            <a:custGeom>
              <a:avLst/>
              <a:gdLst/>
              <a:ahLst/>
              <a:cxnLst/>
              <a:rect r="r" b="b" t="t" l="l"/>
              <a:pathLst>
                <a:path h="1066136" w="1192051">
                  <a:moveTo>
                    <a:pt x="988851" y="0"/>
                  </a:moveTo>
                  <a:lnTo>
                    <a:pt x="0" y="0"/>
                  </a:lnTo>
                  <a:lnTo>
                    <a:pt x="0" y="1066136"/>
                  </a:lnTo>
                  <a:lnTo>
                    <a:pt x="988851" y="1066136"/>
                  </a:lnTo>
                  <a:lnTo>
                    <a:pt x="1192051" y="533068"/>
                  </a:lnTo>
                  <a:lnTo>
                    <a:pt x="988851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77751" cy="1104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232323"/>
                  </a:solidFill>
                  <a:latin typeface="Asangha SemiCondensed"/>
                  <a:ea typeface="Asangha SemiCondensed"/>
                  <a:cs typeface="Asangha SemiCondensed"/>
                  <a:sym typeface="Asangha SemiCondensed"/>
                </a:rPr>
                <a:t>08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-401752" y="8647831"/>
            <a:ext cx="2556161" cy="1639169"/>
            <a:chOff x="0" y="0"/>
            <a:chExt cx="1688056" cy="10824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8056" cy="1082486"/>
            </a:xfrm>
            <a:custGeom>
              <a:avLst/>
              <a:gdLst/>
              <a:ahLst/>
              <a:cxnLst/>
              <a:rect r="r" b="b" t="t" l="l"/>
              <a:pathLst>
                <a:path h="1082486" w="1688056">
                  <a:moveTo>
                    <a:pt x="203200" y="0"/>
                  </a:moveTo>
                  <a:lnTo>
                    <a:pt x="1688056" y="0"/>
                  </a:lnTo>
                  <a:lnTo>
                    <a:pt x="1484856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32323">
                    <a:alpha val="100000"/>
                  </a:srgbClr>
                </a:gs>
                <a:gs pos="100000">
                  <a:srgbClr val="23232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1484856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315046" y="0"/>
            <a:ext cx="2546095" cy="1898931"/>
            <a:chOff x="0" y="0"/>
            <a:chExt cx="1451402" cy="10824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51402" cy="1082486"/>
            </a:xfrm>
            <a:custGeom>
              <a:avLst/>
              <a:gdLst/>
              <a:ahLst/>
              <a:cxnLst/>
              <a:rect r="r" b="b" t="t" l="l"/>
              <a:pathLst>
                <a:path h="1082486" w="1451402">
                  <a:moveTo>
                    <a:pt x="203200" y="0"/>
                  </a:moveTo>
                  <a:lnTo>
                    <a:pt x="1451402" y="0"/>
                  </a:lnTo>
                  <a:lnTo>
                    <a:pt x="1248202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1248202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2099804" y="385521"/>
            <a:ext cx="5808994" cy="3311289"/>
          </a:xfrm>
          <a:custGeom>
            <a:avLst/>
            <a:gdLst/>
            <a:ahLst/>
            <a:cxnLst/>
            <a:rect r="r" b="b" t="t" l="l"/>
            <a:pathLst>
              <a:path h="3311289" w="5808994">
                <a:moveTo>
                  <a:pt x="0" y="0"/>
                </a:moveTo>
                <a:lnTo>
                  <a:pt x="5808994" y="0"/>
                </a:lnTo>
                <a:lnTo>
                  <a:pt x="5808994" y="3311290"/>
                </a:lnTo>
                <a:lnTo>
                  <a:pt x="0" y="331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76255" y="3307990"/>
            <a:ext cx="7179286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Target: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 By 2030, significantly increase the number of young people and adults with relevant technical and vocational skills to secure employment and pursue entrepreneurship</a:t>
            </a: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Goal: 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Provide 10 million youths with digital skills training</a:t>
            </a:r>
          </a:p>
          <a:p>
            <a:pPr algn="just">
              <a:lnSpc>
                <a:spcPts val="2625"/>
              </a:lnSpc>
            </a:pPr>
          </a:p>
          <a:p>
            <a:pPr algn="just">
              <a:lnSpc>
                <a:spcPts val="2625"/>
              </a:lnSpc>
            </a:pPr>
          </a:p>
          <a:p>
            <a:pPr algn="just" marL="0" indent="0" lvl="0">
              <a:lnSpc>
                <a:spcPts val="262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06834" y="563086"/>
            <a:ext cx="12462118" cy="12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</a:pPr>
            <a:r>
              <a:rPr lang="en-US" b="true" sz="4899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COMMITMENT TO UN SUSTAINABLE DEVELOPMENT GOALS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25860" y="1975131"/>
            <a:ext cx="8374933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SDG TARGETS AND PROGRESS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4550" y="4468135"/>
            <a:ext cx="8223331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Tar</a:t>
            </a: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get: 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By 2030, promote development-oriented policies that support productive activities, decent job creation, entrepreneurship, and encourage the formalization and growth of micro- and medium sized enterprises</a:t>
            </a: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Goals: 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Provide 1 million small businesses with resources</a:t>
            </a:r>
          </a:p>
          <a:p>
            <a:pPr algn="just" marL="906780" indent="-302260" lvl="2">
              <a:lnSpc>
                <a:spcPts val="2625"/>
              </a:lnSpc>
              <a:buFont typeface="Arial"/>
              <a:buChar char="⚬"/>
            </a:pP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Enable the avoidance of 20 million metric tons of Carbon Dioxide annually</a:t>
            </a:r>
          </a:p>
          <a:p>
            <a:pPr algn="just">
              <a:lnSpc>
                <a:spcPts val="2625"/>
              </a:lnSpc>
            </a:pPr>
          </a:p>
          <a:p>
            <a:pPr algn="just" marL="0" indent="0" lvl="0">
              <a:lnSpc>
                <a:spcPts val="262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748652" y="2804521"/>
            <a:ext cx="534202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b="true" sz="29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QUALITY EDUCATION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74187" y="3973036"/>
            <a:ext cx="62763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b="true" sz="29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DECENT WORK AND ECONOMIC GROWTH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71304" y="6041233"/>
            <a:ext cx="534202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b="true" sz="29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LIFE ON LAND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6255" y="6510079"/>
            <a:ext cx="6989591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Target: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 By 2020, Protect, restore, and sustainably manage terrestrial and freshwater ecosystems—including forests, wetlands, mountains, and drylands—in line with international agreements.</a:t>
            </a: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Goal: </a:t>
            </a: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By the end of 2030, sponsor the planting of 20 million trees globally</a:t>
            </a:r>
          </a:p>
          <a:p>
            <a:pPr algn="just" marL="0" indent="0" lvl="0">
              <a:lnSpc>
                <a:spcPts val="2625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9863952" y="6970395"/>
            <a:ext cx="8044846" cy="3316605"/>
            <a:chOff x="0" y="0"/>
            <a:chExt cx="2118807" cy="8735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18807" cy="873509"/>
            </a:xfrm>
            <a:custGeom>
              <a:avLst/>
              <a:gdLst/>
              <a:ahLst/>
              <a:cxnLst/>
              <a:rect r="r" b="b" t="t" l="l"/>
              <a:pathLst>
                <a:path h="873509" w="2118807">
                  <a:moveTo>
                    <a:pt x="0" y="0"/>
                  </a:moveTo>
                  <a:lnTo>
                    <a:pt x="2118807" y="0"/>
                  </a:lnTo>
                  <a:lnTo>
                    <a:pt x="2118807" y="873509"/>
                  </a:lnTo>
                  <a:lnTo>
                    <a:pt x="0" y="873509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18807" cy="911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46483" y="6946085"/>
            <a:ext cx="920637" cy="823392"/>
            <a:chOff x="0" y="0"/>
            <a:chExt cx="1192051" cy="10661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2051" cy="1066136"/>
            </a:xfrm>
            <a:custGeom>
              <a:avLst/>
              <a:gdLst/>
              <a:ahLst/>
              <a:cxnLst/>
              <a:rect r="r" b="b" t="t" l="l"/>
              <a:pathLst>
                <a:path h="1066136" w="1192051">
                  <a:moveTo>
                    <a:pt x="988851" y="0"/>
                  </a:moveTo>
                  <a:lnTo>
                    <a:pt x="0" y="0"/>
                  </a:lnTo>
                  <a:lnTo>
                    <a:pt x="0" y="1066136"/>
                  </a:lnTo>
                  <a:lnTo>
                    <a:pt x="988851" y="1066136"/>
                  </a:lnTo>
                  <a:lnTo>
                    <a:pt x="1192051" y="533068"/>
                  </a:lnTo>
                  <a:lnTo>
                    <a:pt x="988851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77751" cy="1104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232323"/>
                  </a:solidFill>
                  <a:latin typeface="Asangha SemiCondensed"/>
                  <a:ea typeface="Asangha SemiCondensed"/>
                  <a:cs typeface="Asangha SemiCondensed"/>
                  <a:sym typeface="Asangha SemiCondensed"/>
                </a:rPr>
                <a:t>16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160950" y="7322342"/>
            <a:ext cx="674784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b="true" sz="29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PEACE, JUSTICE AND STRONG INSTITUTIONS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63952" y="7927137"/>
            <a:ext cx="802543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F94E3D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Promotion of inclusive societies where the rights of all people are respected and the human law is based upon managing our human rights impact; establishing comprehensive policies to address corruption and bribery; through our advocacy, volunteering and contributions, supporting issues such as criminal justice reform and the prevention of online child exploitation</a:t>
            </a:r>
          </a:p>
          <a:p>
            <a:pPr algn="l" marL="0" indent="0" lvl="0">
              <a:lnSpc>
                <a:spcPts val="262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7941" y="8286366"/>
            <a:ext cx="2440630" cy="2000634"/>
            <a:chOff x="0" y="0"/>
            <a:chExt cx="1320555" cy="108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555" cy="1082486"/>
            </a:xfrm>
            <a:custGeom>
              <a:avLst/>
              <a:gdLst/>
              <a:ahLst/>
              <a:cxnLst/>
              <a:rect r="r" b="b" t="t" l="l"/>
              <a:pathLst>
                <a:path h="1082486" w="1320555">
                  <a:moveTo>
                    <a:pt x="203200" y="0"/>
                  </a:moveTo>
                  <a:lnTo>
                    <a:pt x="1320555" y="0"/>
                  </a:lnTo>
                  <a:lnTo>
                    <a:pt x="1117355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117355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47831"/>
            <a:ext cx="1417502" cy="610469"/>
          </a:xfrm>
          <a:custGeom>
            <a:avLst/>
            <a:gdLst/>
            <a:ahLst/>
            <a:cxnLst/>
            <a:rect r="r" b="b" t="t" l="l"/>
            <a:pathLst>
              <a:path h="610469" w="1417502">
                <a:moveTo>
                  <a:pt x="0" y="0"/>
                </a:moveTo>
                <a:lnTo>
                  <a:pt x="1417502" y="0"/>
                </a:lnTo>
                <a:lnTo>
                  <a:pt x="1417502" y="610469"/>
                </a:lnTo>
                <a:lnTo>
                  <a:pt x="0" y="61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880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1073" y="3643038"/>
            <a:ext cx="5003132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A</a:t>
            </a:r>
            <a:r>
              <a:rPr lang="en-US" sz="2699">
                <a:solidFill>
                  <a:srgbClr val="FFFFFF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s Verizon uses more customer data and technology, it has a greater ethical responsibility to protect personal information, maintain transparency, and follow privacy regulations such as the GDPR.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40530" y="3690663"/>
            <a:ext cx="3004179" cy="6177552"/>
            <a:chOff x="0" y="0"/>
            <a:chExt cx="3694414" cy="75968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94414" cy="7596897"/>
            </a:xfrm>
            <a:custGeom>
              <a:avLst/>
              <a:gdLst/>
              <a:ahLst/>
              <a:cxnLst/>
              <a:rect r="r" b="b" t="t" l="l"/>
              <a:pathLst>
                <a:path h="7596897" w="3694414">
                  <a:moveTo>
                    <a:pt x="0" y="0"/>
                  </a:moveTo>
                  <a:lnTo>
                    <a:pt x="3694414" y="0"/>
                  </a:lnTo>
                  <a:lnTo>
                    <a:pt x="3694414" y="7596897"/>
                  </a:lnTo>
                  <a:lnTo>
                    <a:pt x="0" y="7596897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94414" cy="7625472"/>
            </a:xfrm>
            <a:prstGeom prst="rect">
              <a:avLst/>
            </a:prstGeom>
          </p:spPr>
          <p:txBody>
            <a:bodyPr anchor="ctr" rtlCol="false" tIns="32197" lIns="32197" bIns="32197" rIns="32197"/>
            <a:lstStyle/>
            <a:p>
              <a:pPr algn="ctr">
                <a:lnSpc>
                  <a:spcPts val="1774"/>
                </a:lnSpc>
              </a:pPr>
            </a:p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05166" y="3690663"/>
            <a:ext cx="2879925" cy="6177552"/>
            <a:chOff x="0" y="0"/>
            <a:chExt cx="3541613" cy="75968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1613" cy="7596897"/>
            </a:xfrm>
            <a:custGeom>
              <a:avLst/>
              <a:gdLst/>
              <a:ahLst/>
              <a:cxnLst/>
              <a:rect r="r" b="b" t="t" l="l"/>
              <a:pathLst>
                <a:path h="7596897" w="3541613">
                  <a:moveTo>
                    <a:pt x="0" y="0"/>
                  </a:moveTo>
                  <a:lnTo>
                    <a:pt x="3541613" y="0"/>
                  </a:lnTo>
                  <a:lnTo>
                    <a:pt x="3541613" y="7596897"/>
                  </a:lnTo>
                  <a:lnTo>
                    <a:pt x="0" y="7596897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541613" cy="7625472"/>
            </a:xfrm>
            <a:prstGeom prst="rect">
              <a:avLst/>
            </a:prstGeom>
          </p:spPr>
          <p:txBody>
            <a:bodyPr anchor="ctr" rtlCol="false" tIns="32197" lIns="32197" bIns="32197" rIns="32197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11533" y="3690663"/>
            <a:ext cx="3168518" cy="6177552"/>
            <a:chOff x="0" y="0"/>
            <a:chExt cx="3896512" cy="7596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96513" cy="7596897"/>
            </a:xfrm>
            <a:custGeom>
              <a:avLst/>
              <a:gdLst/>
              <a:ahLst/>
              <a:cxnLst/>
              <a:rect r="r" b="b" t="t" l="l"/>
              <a:pathLst>
                <a:path h="7596897" w="3896513">
                  <a:moveTo>
                    <a:pt x="0" y="0"/>
                  </a:moveTo>
                  <a:lnTo>
                    <a:pt x="3896513" y="0"/>
                  </a:lnTo>
                  <a:lnTo>
                    <a:pt x="3896513" y="7596897"/>
                  </a:lnTo>
                  <a:lnTo>
                    <a:pt x="0" y="7596897"/>
                  </a:lnTo>
                  <a:close/>
                </a:path>
              </a:pathLst>
            </a:custGeom>
            <a:ln w="38100" cap="sq">
              <a:solidFill>
                <a:srgbClr val="F94E3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896512" cy="7625472"/>
            </a:xfrm>
            <a:prstGeom prst="rect">
              <a:avLst/>
            </a:prstGeom>
          </p:spPr>
          <p:txBody>
            <a:bodyPr anchor="ctr" rtlCol="false" tIns="32197" lIns="32197" bIns="32197" rIns="32197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7261346" y="4947010"/>
            <a:ext cx="178803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647702" y="4918435"/>
            <a:ext cx="178803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689338" y="4932723"/>
            <a:ext cx="178803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303783" y="4019079"/>
            <a:ext cx="181290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3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Ethical Challenges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17864" y="4019079"/>
            <a:ext cx="21358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3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International transparency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9338" y="3971650"/>
            <a:ext cx="181290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399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GDPR Alignment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3783" y="5351819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Customer privacy and data collection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47702" y="0"/>
            <a:ext cx="1611598" cy="1898931"/>
            <a:chOff x="0" y="0"/>
            <a:chExt cx="918692" cy="10824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8692" cy="1082486"/>
            </a:xfrm>
            <a:custGeom>
              <a:avLst/>
              <a:gdLst/>
              <a:ahLst/>
              <a:cxnLst/>
              <a:rect r="r" b="b" t="t" l="l"/>
              <a:pathLst>
                <a:path h="1082486" w="918692">
                  <a:moveTo>
                    <a:pt x="203200" y="0"/>
                  </a:moveTo>
                  <a:lnTo>
                    <a:pt x="918692" y="0"/>
                  </a:lnTo>
                  <a:lnTo>
                    <a:pt x="715492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715492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51598" y="1899899"/>
            <a:ext cx="615820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b="true" sz="3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ETHICAL CHALLENG</a:t>
            </a:r>
            <a:r>
              <a:rPr lang="en-US" b="true" sz="3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ES, GDPR &amp;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18626" y="1950903"/>
            <a:ext cx="6675908" cy="52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4"/>
              </a:lnSpc>
            </a:pPr>
            <a:r>
              <a:rPr lang="en-US" b="true" sz="3994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INTERNATIONAL TR</a:t>
            </a:r>
            <a:r>
              <a:rPr lang="en-US" b="true" sz="3994">
                <a:solidFill>
                  <a:srgbClr val="F94E3D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ANSPARENCY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03783" y="6462523"/>
            <a:ext cx="1974200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AI &amp; Predictive technology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36165" y="7569645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Cybersecurity &amp; Data breaches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71710" y="8637274"/>
            <a:ext cx="1941818" cy="65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77"/>
              </a:lnSpc>
            </a:pPr>
            <a:r>
              <a:rPr lang="en-US" b="true" sz="2142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Data Transparency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21377" y="5351819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Data Controller&amp; Processor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21377" y="6610161"/>
            <a:ext cx="1812908" cy="2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Articles28,30 &amp;32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39423" y="7536308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Security &amp; Data management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64467" y="8665080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Directly addresses GDPR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547047" y="5351819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Binding Corporate Rules (BCRs)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47047" y="6610161"/>
            <a:ext cx="1812908" cy="5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5"/>
              </a:lnSpc>
            </a:pPr>
            <a:r>
              <a:rPr lang="en-US" b="true" sz="19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International Data Protection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547047" y="7817364"/>
            <a:ext cx="1812908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5"/>
              </a:lnSpc>
            </a:pPr>
            <a:r>
              <a:rPr lang="en-US" b="true" sz="2100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Article 47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10954" y="8501615"/>
            <a:ext cx="1949656" cy="65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4"/>
              </a:lnSpc>
            </a:pPr>
            <a:r>
              <a:rPr lang="en-US" b="true" sz="2043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Protection across borders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778069" y="1003058"/>
            <a:ext cx="2986602" cy="1660331"/>
          </a:xfrm>
          <a:custGeom>
            <a:avLst/>
            <a:gdLst/>
            <a:ahLst/>
            <a:cxnLst/>
            <a:rect r="r" b="b" t="t" l="l"/>
            <a:pathLst>
              <a:path h="1660331" w="2986602">
                <a:moveTo>
                  <a:pt x="0" y="0"/>
                </a:moveTo>
                <a:lnTo>
                  <a:pt x="2986602" y="0"/>
                </a:lnTo>
                <a:lnTo>
                  <a:pt x="2986602" y="1660332"/>
                </a:lnTo>
                <a:lnTo>
                  <a:pt x="0" y="166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1999" y="9635542"/>
            <a:ext cx="1083100" cy="466454"/>
          </a:xfrm>
          <a:custGeom>
            <a:avLst/>
            <a:gdLst/>
            <a:ahLst/>
            <a:cxnLst/>
            <a:rect r="r" b="b" t="t" l="l"/>
            <a:pathLst>
              <a:path h="466454" w="1083100">
                <a:moveTo>
                  <a:pt x="0" y="0"/>
                </a:moveTo>
                <a:lnTo>
                  <a:pt x="1083099" y="0"/>
                </a:lnTo>
                <a:lnTo>
                  <a:pt x="1083099" y="466454"/>
                </a:lnTo>
                <a:lnTo>
                  <a:pt x="0" y="466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88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44479" y="1898931"/>
            <a:ext cx="12352769" cy="8388069"/>
            <a:chOff x="0" y="0"/>
            <a:chExt cx="1594134" cy="1082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4134" cy="1082486"/>
            </a:xfrm>
            <a:custGeom>
              <a:avLst/>
              <a:gdLst/>
              <a:ahLst/>
              <a:cxnLst/>
              <a:rect r="r" b="b" t="t" l="l"/>
              <a:pathLst>
                <a:path h="1082486" w="1594134">
                  <a:moveTo>
                    <a:pt x="203200" y="0"/>
                  </a:moveTo>
                  <a:lnTo>
                    <a:pt x="1594134" y="0"/>
                  </a:lnTo>
                  <a:lnTo>
                    <a:pt x="1390934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390934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0"/>
            <a:ext cx="11258988" cy="8647831"/>
            <a:chOff x="0" y="0"/>
            <a:chExt cx="1374878" cy="1056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878" cy="1056020"/>
            </a:xfrm>
            <a:custGeom>
              <a:avLst/>
              <a:gdLst/>
              <a:ahLst/>
              <a:cxnLst/>
              <a:rect r="r" b="b" t="t" l="l"/>
              <a:pathLst>
                <a:path h="1056020" w="1374878">
                  <a:moveTo>
                    <a:pt x="203200" y="0"/>
                  </a:moveTo>
                  <a:lnTo>
                    <a:pt x="1171678" y="0"/>
                  </a:lnTo>
                  <a:lnTo>
                    <a:pt x="1374878" y="1056020"/>
                  </a:lnTo>
                  <a:lnTo>
                    <a:pt x="0" y="105602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18439" t="0" r="-1843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21298" y="0"/>
            <a:ext cx="1587501" cy="3286623"/>
            <a:chOff x="0" y="0"/>
            <a:chExt cx="522861" cy="1082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2861" cy="1082486"/>
            </a:xfrm>
            <a:custGeom>
              <a:avLst/>
              <a:gdLst/>
              <a:ahLst/>
              <a:cxnLst/>
              <a:rect r="r" b="b" t="t" l="l"/>
              <a:pathLst>
                <a:path h="1082486" w="522861">
                  <a:moveTo>
                    <a:pt x="203200" y="0"/>
                  </a:moveTo>
                  <a:lnTo>
                    <a:pt x="522861" y="0"/>
                  </a:lnTo>
                  <a:lnTo>
                    <a:pt x="319661" y="1082486"/>
                  </a:lnTo>
                  <a:lnTo>
                    <a:pt x="0" y="1082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4E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319661" cy="11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6536" y="451766"/>
            <a:ext cx="8786312" cy="14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</a:pPr>
            <a:r>
              <a:rPr lang="en-US" b="true" sz="56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ST</a:t>
            </a:r>
            <a:r>
              <a:rPr lang="en-US" b="true" sz="56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AKEHOLDER PERSPECTIVES &amp; TRADE-O</a:t>
            </a:r>
            <a:r>
              <a:rPr lang="en-US" b="true" sz="5600" strike="noStrike" u="non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FFS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1012" y="2175109"/>
            <a:ext cx="777511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Stakeholders:</a:t>
            </a:r>
            <a:r>
              <a:rPr lang="en-US" b="true" sz="2299" strike="noStrike" u="non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 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Verizon • Customers • Sharehold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er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s 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•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 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Employees/Ret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a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i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l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 P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a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rt</a:t>
            </a:r>
            <a:r>
              <a:rPr lang="en-US" sz="2299" strike="noStrike" u="none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ners • Enterprise Customers • Communities • Competitors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536" y="3383514"/>
            <a:ext cx="8753470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What’s at Stake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Customers: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Affordable, reliable service + privacy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Shareholders: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Profitability, dividends + ROI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Employees/Retail Partners: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Job stability + customer traffic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Enterprise Customers: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Reliable connectivity + network performance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Communities: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Broadband access + infrastructure investment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Competitors: </a:t>
            </a:r>
            <a:r>
              <a:rPr lang="en-US" sz="2100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Pricing + network/product pressure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176129" y="9092398"/>
            <a:ext cx="9737729" cy="78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9"/>
              </a:lnSpc>
              <a:spcBef>
                <a:spcPct val="0"/>
              </a:spcBef>
            </a:pPr>
            <a:r>
              <a:rPr lang="en-US" b="true" sz="2220" strike="noStrike" u="non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Verizon must balance business growth with customer privacy, </a:t>
            </a:r>
            <a:r>
              <a:rPr lang="en-US" b="true" sz="2220" strike="noStrike" u="non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financ</a:t>
            </a:r>
            <a:r>
              <a:rPr lang="en-US" b="true" sz="2220" strike="noStrike" u="non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ial </a:t>
            </a:r>
            <a:r>
              <a:rPr lang="en-US" b="true" sz="2220" strike="noStrike" u="non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goal</a:t>
            </a:r>
            <a:r>
              <a:rPr lang="en-US" b="true" sz="2220" strike="noStrike" u="none">
                <a:solidFill>
                  <a:srgbClr val="FFFFFF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s, and equitable broadband access.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357" y="6292448"/>
            <a:ext cx="7775117" cy="259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1"/>
              </a:lnSpc>
            </a:pPr>
            <a:r>
              <a:rPr lang="en-US" sz="1865" b="tru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Key Trade-Off</a:t>
            </a:r>
          </a:p>
          <a:p>
            <a:pPr algn="just" marL="402717" indent="-201359" lvl="1">
              <a:lnSpc>
                <a:spcPts val="2611"/>
              </a:lnSpc>
              <a:buFont typeface="Arial"/>
              <a:buChar char="•"/>
            </a:pPr>
            <a:r>
              <a:rPr lang="en-US" sz="1865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Grow</a:t>
            </a:r>
            <a:r>
              <a:rPr lang="en-US" sz="1865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th &amp; broadband investment ↔ Financial discipline &amp; profitability</a:t>
            </a:r>
          </a:p>
          <a:p>
            <a:pPr algn="just">
              <a:lnSpc>
                <a:spcPts val="2611"/>
              </a:lnSpc>
            </a:pPr>
            <a:r>
              <a:rPr lang="en-US" sz="1865" b="tru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Potential Benefits</a:t>
            </a:r>
          </a:p>
          <a:p>
            <a:pPr algn="just" marL="402717" indent="-201359" lvl="1">
              <a:lnSpc>
                <a:spcPts val="2611"/>
              </a:lnSpc>
              <a:buFont typeface="Arial"/>
              <a:buChar char="•"/>
            </a:pPr>
            <a:r>
              <a:rPr lang="en-US" sz="1865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Targeted marketing • Increased Fios adoption • Customer retention • Better infrastructure decisions • Improved broadband access</a:t>
            </a:r>
          </a:p>
          <a:p>
            <a:pPr algn="just">
              <a:lnSpc>
                <a:spcPts val="2611"/>
              </a:lnSpc>
            </a:pPr>
            <a:r>
              <a:rPr lang="en-US" sz="1865" b="tru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P</a:t>
            </a:r>
            <a:r>
              <a:rPr lang="en-US" sz="1865" b="true">
                <a:solidFill>
                  <a:srgbClr val="232323"/>
                </a:solidFill>
                <a:latin typeface="Asangha SemiCondensed Bold"/>
                <a:ea typeface="Asangha SemiCondensed Bold"/>
                <a:cs typeface="Asangha SemiCondensed Bold"/>
                <a:sym typeface="Asangha SemiCondensed Bold"/>
              </a:rPr>
              <a:t>otential Risks</a:t>
            </a:r>
          </a:p>
          <a:p>
            <a:pPr algn="just" marL="402717" indent="-201359" lvl="1">
              <a:lnSpc>
                <a:spcPts val="2611"/>
              </a:lnSpc>
              <a:spcBef>
                <a:spcPct val="0"/>
              </a:spcBef>
              <a:buFont typeface="Arial"/>
              <a:buChar char="•"/>
            </a:pPr>
            <a:r>
              <a:rPr lang="en-US" sz="1865">
                <a:solidFill>
                  <a:srgbClr val="232323"/>
                </a:solidFill>
                <a:latin typeface="Asangha SemiCondensed"/>
                <a:ea typeface="Asangha SemiCondensed"/>
                <a:cs typeface="Asangha SemiCondensed"/>
                <a:sym typeface="Asangha SemiCondensed"/>
              </a:rPr>
              <a:t>Privacy concerns • Inaccurate data • Unequal community investment • Cost of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DAHWoqduLbM</dc:identifier>
  <dcterms:modified xsi:type="dcterms:W3CDTF">2011-08-01T06:04:30Z</dcterms:modified>
  <cp:revision>1</cp:revision>
  <dc:title>BUMK 760 _ Verizon_Team 4</dc:title>
</cp:coreProperties>
</file>